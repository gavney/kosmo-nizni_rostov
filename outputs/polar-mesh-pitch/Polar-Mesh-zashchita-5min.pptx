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ch-06-glob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0"/>
            <a:ext cx="78638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B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EC8FF"/>
                </a:solidFill>
                <a:latin typeface="Calibri"/>
              </a:rPr>
              <a:t>POLAR MESH</a:t>
            </a:r>
          </a:p>
          <a:p>
            <a:r>
              <a:rPr sz="3400" b="1">
                <a:solidFill>
                  <a:srgbClr val="F4F6FA"/>
                </a:solidFill>
                <a:latin typeface="Calibri"/>
              </a:rPr>
              <a:t>Связь для Севера,
которую можно
спроектировать</a:t>
            </a:r>
          </a:p>
          <a:p>
            <a:r>
              <a:rPr sz="1600" b="0">
                <a:solidFill>
                  <a:srgbClr val="A8B3C4"/>
                </a:solidFill>
                <a:latin typeface="Calibri"/>
              </a:rPr>
              <a:t>
Команда Ростов · КосмоХакатон 2026</a:t>
            </a:r>
          </a:p>
          <a:p>
            <a:r>
              <a:rPr sz="1600" b="0">
                <a:solidFill>
                  <a:srgbClr val="FFD45A"/>
                </a:solidFill>
                <a:latin typeface="Calibri"/>
              </a:rPr>
              <a:t>Цель: сквозная доступность ≥ 90%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-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A24"/>
                </a:solidFill>
                <a:latin typeface="Calibri"/>
              </a:rPr>
              <a:t>О чём 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67A"/>
                </a:solidFill>
                <a:latin typeface="Calibri"/>
              </a:rPr>
              <a:t>Северным клиентам нужен не «спутник в небе», а путь до шлюза через группировку. Видеть аппарат — ещё не значит доставить данные.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22860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A24"/>
                </a:solidFill>
                <a:latin typeface="Calibri"/>
              </a:rPr>
              <a:t>C65 · C70 · C72</a:t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>северные терминалы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2743200"/>
            <a:ext cx="22860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9718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A24"/>
                </a:solidFill>
                <a:latin typeface="Calibri"/>
              </a:rPr>
              <a:t>ISL-меш</a:t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>ретрансляция только через спутники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743200"/>
            <a:ext cx="22860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29718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A24"/>
                </a:solidFill>
                <a:latin typeface="Calibri"/>
              </a:rPr>
              <a:t>G_MUR</a:t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>выход в наземную сеть</a:t>
            </a:r>
          </a:p>
        </p:txBody>
      </p:sp>
      <p:pic>
        <p:nvPicPr>
          <p:cNvPr id="11" name="Picture 10" descr="pitch-06-glob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4023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ch-01-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521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6FA"/>
                </a:solidFill>
                <a:latin typeface="Calibri"/>
              </a:rPr>
              <a:t>Интерфейс, в котором можно пройти весь сценарий жюри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3C4"/>
                </a:solidFill>
                <a:latin typeface="Calibri"/>
              </a:rPr>
              <a:t>Глобус · таймлайн · метрики доступности · маршрут в один взгляд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A24"/>
                </a:solidFill>
                <a:latin typeface="Calibri"/>
              </a:rPr>
              <a:t>Проектируем, а не просто смотрим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67A"/>
                </a:solidFill>
                <a:latin typeface="Calibri"/>
              </a:rPr>
              <a:t>Меняем очередь запуска и ориентацию плоскостей.</a:t>
            </a:r>
          </a:p>
          <a:p>
            <a:pPr algn="l"/>
            <a:r>
              <a:rPr sz="1800" b="0">
                <a:solidFill>
                  <a:srgbClr val="5A667A"/>
                </a:solidFill>
                <a:latin typeface="Calibri"/>
              </a:rPr>
              <a:t>Считаем сутки на сетке кейса.</a:t>
            </a:r>
          </a:p>
          <a:p>
            <a:pPr algn="l"/>
            <a:r>
              <a:rPr sz="1800" b="0">
                <a:solidFill>
                  <a:srgbClr val="5A667A"/>
                </a:solidFill>
                <a:latin typeface="Calibri"/>
              </a:rPr>
              <a:t>Сразу видим, тянем ли цель 90% — и где рвётся связь.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На полной группировке сейчас:</a:t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C65 — 96.7%   C70 — 98.8%   C72 — 98.9%</a:t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Цель кейса — 90%. Мы её перекрываем.</a:t>
            </a:r>
          </a:p>
        </p:txBody>
      </p:sp>
      <p:pic>
        <p:nvPicPr>
          <p:cNvPr id="5" name="Picture 4" descr="pitch-03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7607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ch-02-s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21440" cy="5349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6FA"/>
                </a:solidFill>
                <a:latin typeface="Calibri"/>
              </a:rPr>
              <a:t>Кто реально несёт трафик — видно сразу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3C4"/>
                </a:solidFill>
                <a:latin typeface="Calibri"/>
              </a:rPr>
              <a:t>Жёлтым — аппараты в текущей цепи. Остальные спокойнее, но читаемы даже на ночной стороне.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A24"/>
                </a:solidFill>
                <a:latin typeface="Calibri"/>
              </a:rPr>
              <a:t>Ломаем сеть специально — и смотрим, что остаётся</a:t>
            </a:r>
          </a:p>
        </p:txBody>
      </p:sp>
      <p:pic>
        <p:nvPicPr>
          <p:cNvPr id="3" name="Picture 2" descr="pitch-04-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1323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Отказ КА</a:t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Отключение шлюза</a:t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Сигнал «нет связи»</a:t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Показываем не только «упало»,</a:t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но и почему: нет видимости,</a:t>
            </a:r>
          </a:p>
          <a:p>
            <a:pPr algn="l"/>
            <a:r>
              <a:rPr sz="1800" b="0">
                <a:solidFill>
                  <a:srgbClr val="141A24"/>
                </a:solidFill>
                <a:latin typeface="Calibri"/>
              </a:rPr>
              <a:t>дыра в ISL или шлюз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ch-05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21440" cy="5349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6FA"/>
                </a:solidFill>
                <a:latin typeface="Calibri"/>
              </a:rPr>
              <a:t>Два варианта рядом — выбираем глазами и цифрами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3C4"/>
                </a:solidFill>
                <a:latin typeface="Calibri"/>
              </a:rPr>
              <a:t>Сохранили конфиги → сравнили availability и перерывы → оставили тот, что держит север.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A24"/>
                </a:solidFill>
                <a:latin typeface="Calibri"/>
              </a:rPr>
              <a:t>Под капотом — без магии, по правилам кейса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FB5"/>
                </a:solidFill>
                <a:latin typeface="Calibri"/>
              </a:rPr>
              <a:t>Геометрия</a:t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>официальный geometry.py организаторов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06040"/>
            <a:ext cx="10972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0720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FB5"/>
                </a:solidFill>
                <a:latin typeface="Calibri"/>
              </a:rPr>
              <a:t>Маршруты</a:t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>BFS по hops и Dijkstra по километрам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49039"/>
            <a:ext cx="10972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7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FB5"/>
                </a:solidFill>
                <a:latin typeface="Calibri"/>
              </a:rPr>
              <a:t>Правило сети</a:t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>земля не ретранслирует — только 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10972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9320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FB5"/>
                </a:solidFill>
                <a:latin typeface="Calibri"/>
              </a:rPr>
              <a:t>Выгрузка</a:t>
            </a:r>
          </a:p>
          <a:p>
            <a:pPr algn="l"/>
            <a:r>
              <a:rPr sz="1600" b="0">
                <a:solidFill>
                  <a:srgbClr val="141A24"/>
                </a:solidFill>
                <a:latin typeface="Calibri"/>
              </a:rPr>
              <a:t>cosmo-A-result-1.0 + сценарий целиком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ch-06-glob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45920" y="1828800"/>
            <a:ext cx="8869680" cy="3200400"/>
          </a:xfrm>
          <a:prstGeom prst="rect">
            <a:avLst/>
          </a:prstGeom>
          <a:solidFill>
            <a:srgbClr val="0B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48840"/>
            <a:ext cx="8138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6EC8FF"/>
                </a:solidFill>
                <a:latin typeface="Calibri"/>
              </a:rPr>
              <a:t>Polar Mesh</a:t>
            </a:r>
          </a:p>
          <a:p>
            <a:pPr algn="ctr"/>
            <a:r>
              <a:rPr sz="2200" b="0">
                <a:solidFill>
                  <a:srgbClr val="F4F6FA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F4F6FA"/>
                </a:solidFill>
                <a:latin typeface="Calibri"/>
              </a:rPr>
              <a:t>Спроектировать · проверить на отказах ·</a:t>
            </a:r>
          </a:p>
          <a:p>
            <a:pPr algn="ctr"/>
            <a:r>
              <a:rPr sz="2200" b="0">
                <a:solidFill>
                  <a:srgbClr val="F4F6FA"/>
                </a:solidFill>
                <a:latin typeface="Calibri"/>
              </a:rPr>
              <a:t>сравнить · выгрузить результат.</a:t>
            </a:r>
          </a:p>
          <a:p>
            <a:pPr algn="ctr"/>
            <a:r>
              <a:rPr sz="2200" b="0">
                <a:solidFill>
                  <a:srgbClr val="F4F6FA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F4F6FA"/>
                </a:solidFill>
                <a:latin typeface="Calibri"/>
              </a:rPr>
              <a:t>Команда Ростов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